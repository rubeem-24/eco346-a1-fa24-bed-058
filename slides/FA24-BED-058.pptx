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+mn-lt"/>
              </a:defRPr>
            </a:pPr>
            <a:r>
              <a:rPr lang="en-GB" sz="1200" b="0" i="0" u="none" strike="noStrike">
                <a:solidFill>
                  <a:srgbClr val="222222"/>
                </a:solidFill>
                <a:latin typeface="+mn-lt"/>
              </a:rPr>
              <a:t>Literacy gap, men minus women (percentage points)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22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10-14</c:v>
                </c:pt>
                <c:pt idx="1">
                  <c:v>15-19</c:v>
                </c:pt>
                <c:pt idx="2">
                  <c:v>20-24</c:v>
                </c:pt>
                <c:pt idx="3">
                  <c:v>25-29</c:v>
                </c:pt>
                <c:pt idx="4">
                  <c:v>30-34</c:v>
                </c:pt>
                <c:pt idx="5">
                  <c:v>35-39</c:v>
                </c:pt>
                <c:pt idx="6">
                  <c:v>40-44</c:v>
                </c:pt>
                <c:pt idx="7">
                  <c:v>45-49</c:v>
                </c:pt>
                <c:pt idx="8">
                  <c:v>50-54</c:v>
                </c:pt>
                <c:pt idx="9">
                  <c:v>55-59</c:v>
                </c:pt>
                <c:pt idx="10">
                  <c:v>60-64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22.1</c:v>
                </c:pt>
                <c:pt idx="1">
                  <c:v>31.5</c:v>
                </c:pt>
                <c:pt idx="2">
                  <c:v>35.1</c:v>
                </c:pt>
                <c:pt idx="3">
                  <c:v>28.9</c:v>
                </c:pt>
                <c:pt idx="4">
                  <c:v>42.5</c:v>
                </c:pt>
                <c:pt idx="5">
                  <c:v>36</c:v>
                </c:pt>
                <c:pt idx="6">
                  <c:v>38</c:v>
                </c:pt>
                <c:pt idx="7">
                  <c:v>40.799999999999997</c:v>
                </c:pt>
                <c:pt idx="8">
                  <c:v>35.299999999999997</c:v>
                </c:pt>
                <c:pt idx="9">
                  <c:v>30.4</c:v>
                </c:pt>
                <c:pt idx="10">
                  <c:v>29.6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31-4F49-B36A-8252AF6A54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1156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variant: 58 divided by 8 leaves remainder 2, so rural Sindh. All statistics are weighted by hhweight.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spending sits in the low thousands, with a long right tail. Weights matter: the weighted median is slightly above the unweighted one because low-weight households spend a little 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and redesign side by side. Three changes: conditional means, direct labelling with less ink, and weighting plus a finding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finding to remember: a large, persistent gender gap. Python gives the same band table as R to one decimal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Education Spending and Literacy in Rural Sindh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E2EC"/>
                </a:solidFill>
              </a:rPr>
              <a:t>PSLM 2019-20  |  ECO346 Data Visualization Techniques for Economists</a:t>
            </a:r>
            <a:endParaRPr lang="en-US" sz="1500" b="1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Muhammad Rubeem Afzal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FA24-BED-058  |  Section B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685800" y="32735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5532A"/>
                </a:solidFill>
              </a:rPr>
              <a:t>Variant 2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86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Sindh, rural (58 = 7 × 8 + 2). Only persons in this group are used.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320040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3429000" y="32735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5532A"/>
                </a:solidFill>
              </a:rPr>
              <a:t>1,440 students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3886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with annual education spending above zero (Question 2)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320040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6172200" y="32735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5532A"/>
                </a:solidFill>
              </a:rPr>
              <a:t>7,171 persons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3886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aged 10-64 with known literacy (Questions 3 to 5)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11480" y="22860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</a:rPr>
              <a:t>The middle 80% of rural Sindh students cost Rs 1,000 to Rs 15,500 a year</a:t>
            </a:r>
            <a:endParaRPr lang="en-US" sz="2200" dirty="0"/>
          </a:p>
        </p:txBody>
      </p:sp>
      <p:pic>
        <p:nvPicPr>
          <p:cNvPr id="4" name="Image 0" descr="/home/claude/proj/DVTE 2/ECO346-A1-FA24-BED-058/Figures/distributi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1097280"/>
            <a:ext cx="5394960" cy="347680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097280"/>
            <a:ext cx="2697480" cy="960120"/>
          </a:xfrm>
          <a:prstGeom prst="rect">
            <a:avLst/>
          </a:prstGeom>
          <a:solidFill>
            <a:srgbClr val="F3F0EA"/>
          </a:solidFill>
          <a:ln w="12700">
            <a:solidFill>
              <a:srgbClr val="F3F0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 txBox="1"/>
          <p:nvPr/>
        </p:nvSpPr>
        <p:spPr>
          <a:xfrm>
            <a:off x="6172200" y="1170432"/>
            <a:ext cx="24231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Rs 4,500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1654150"/>
            <a:ext cx="24231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weighted median (unweighted: Rs 4,295)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35040" y="2194560"/>
            <a:ext cx="2697480" cy="960120"/>
          </a:xfrm>
          <a:prstGeom prst="rect">
            <a:avLst/>
          </a:prstGeom>
          <a:solidFill>
            <a:srgbClr val="F3F0EA"/>
          </a:solidFill>
          <a:ln w="12700">
            <a:solidFill>
              <a:srgbClr val="F3F0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 txBox="1"/>
          <p:nvPr/>
        </p:nvSpPr>
        <p:spPr>
          <a:xfrm>
            <a:off x="6172200" y="2267712"/>
            <a:ext cx="24231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Rs 15,500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172200" y="2751430"/>
            <a:ext cx="24231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weighted 90th percentile (10th: Rs 1,000)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3291840"/>
            <a:ext cx="2697480" cy="960120"/>
          </a:xfrm>
          <a:prstGeom prst="rect">
            <a:avLst/>
          </a:prstGeom>
          <a:solidFill>
            <a:srgbClr val="F3F0EA"/>
          </a:solidFill>
          <a:ln w="12700">
            <a:solidFill>
              <a:srgbClr val="F3F0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 txBox="1"/>
          <p:nvPr/>
        </p:nvSpPr>
        <p:spPr>
          <a:xfrm>
            <a:off x="6172200" y="3364992"/>
            <a:ext cx="24231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5532A"/>
                </a:solidFill>
              </a:rPr>
              <a:t>15.50 ×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3848710"/>
            <a:ext cx="24231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ratio of 90th to 10th percentile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1148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Weighted histogram, log scale, bins 0.1 wide. 1 student outside Rs 100 to Rs 1,000,000 excluded. Source: PSLM 2019-20, weighted by hhweight.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11480" y="22860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</a:rPr>
              <a:t>The makeover: from 7,171 overplotted dots to two readable lines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005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</a:rPr>
              <a:t>Default (R, nothing added)</a:t>
            </a:r>
            <a:endParaRPr lang="en-US" sz="1200" dirty="0"/>
          </a:p>
        </p:txBody>
      </p:sp>
      <p:pic>
        <p:nvPicPr>
          <p:cNvPr id="5" name="Image 0" descr="/home/claude/proj/DVTE 2/ECO346-A1-FA24-BED-058/Figures/default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1280160"/>
            <a:ext cx="3017520" cy="3017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749040" y="1005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Redesign</a:t>
            </a:r>
            <a:endParaRPr lang="en-US" sz="1200" dirty="0"/>
          </a:p>
        </p:txBody>
      </p:sp>
      <p:pic>
        <p:nvPicPr>
          <p:cNvPr id="7" name="Image 1" descr="/home/claude/proj/DVTE 2/ECO346-A1-FA24-BED-058/Figures/literacy_by_ag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9040" y="1280160"/>
            <a:ext cx="4754880" cy="306430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11480" y="44348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</a:rPr>
              <a:t>Conditional means </a:t>
            </a:r>
            <a:r>
              <a:rPr lang="en-US" sz="1100" dirty="0">
                <a:solidFill>
                  <a:srgbClr val="222222"/>
                </a:solidFill>
              </a:rPr>
              <a:t>by age band replace overplotted 0/1 points.   </a:t>
            </a:r>
            <a:r>
              <a:rPr lang="en-US" sz="1100" b="1" dirty="0">
                <a:solidFill>
                  <a:srgbClr val="1F4E79"/>
                </a:solidFill>
              </a:rPr>
              <a:t>Direct labels, no legend </a:t>
            </a:r>
            <a:r>
              <a:rPr lang="en-US" sz="1100" dirty="0">
                <a:solidFill>
                  <a:srgbClr val="222222"/>
                </a:solidFill>
              </a:rPr>
              <a:t>and less clutter raise data-ink.   </a:t>
            </a:r>
            <a:r>
              <a:rPr lang="en-US" sz="1100" b="1" dirty="0">
                <a:solidFill>
                  <a:srgbClr val="1F4E79"/>
                </a:solidFill>
              </a:rPr>
              <a:t>Weights </a:t>
            </a:r>
            <a:r>
              <a:rPr lang="en-US" sz="1100" dirty="0">
                <a:solidFill>
                  <a:srgbClr val="222222"/>
                </a:solidFill>
              </a:rPr>
              <a:t>make rates describe rural Sindh; the title states the finding.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41148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What the default shows that the redesign hides: single years of age and individual outcomes, so variation inside each band.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11480" y="22860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</a:rPr>
              <a:t>Main finding: men lead women in literacy by 22 to 43 points in every age band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11480" y="10972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0" y="1143000"/>
            <a:ext cx="3246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B5532A"/>
                </a:solidFill>
              </a:rPr>
              <a:t>Largest gap: ages 30-34, 42.5 points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Women: 28.0% at 15-19, 9.6% at 55-59. Men: 59.5% and 40.0%.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The gap is as wide at 15-19 (31.5) as at 55-59 (30.4): little convergence.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Python reproduces R: women aged 15-19 are 28.0% in both.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Cannot tell us why: school supply or household demand; one cross-section mixes age and cohort.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Source: PSLM 2019-20, persons aged 10-64 in rural Sindh, weighted by hhweight. Gap = men minus women weighted literacy rate.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</Words>
  <Application>Microsoft Office PowerPoint</Application>
  <PresentationFormat>On-screen Show (16:9)</PresentationFormat>
  <Paragraphs>39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ECO346 Assignment 1: FA24-BED-058</dc:title>
  <dc:subject>PptxGenJS Presentation</dc:subject>
  <dc:creator>Muhammad Rubeem Afzal</dc:creator>
  <cp:lastModifiedBy>Muhammad Rubeem Afzal</cp:lastModifiedBy>
  <cp:revision>2</cp:revision>
  <dcterms:created xsi:type="dcterms:W3CDTF">2026-10-26T15:03:25Z</dcterms:created>
  <dcterms:modified xsi:type="dcterms:W3CDTF">2026-10-26T15:19:22Z</dcterms:modified>
</cp:coreProperties>
</file>